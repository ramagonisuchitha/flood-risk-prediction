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243D78-4912-4127-97BA-C742BBAC8D84}" v="58" dt="2025-09-13T19:05:47.6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93" autoAdjust="0"/>
    <p:restoredTop sz="96301"/>
  </p:normalViewPr>
  <p:slideViewPr>
    <p:cSldViewPr snapToGrid="0">
      <p:cViewPr varScale="1">
        <p:scale>
          <a:sx n="70" d="100"/>
          <a:sy n="70" d="100"/>
        </p:scale>
        <p:origin x="504" y="36"/>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225" Type="http://schemas.microsoft.com/office/2015/10/relationships/revisionInfo" Target="revisionInfo.xml"/><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6390752" y="584200"/>
            <a:ext cx="4156598"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51586" y="3429000"/>
            <a:ext cx="6870861" cy="1200329"/>
          </a:xfrm>
          <a:prstGeom prst="rect">
            <a:avLst/>
          </a:prstGeom>
          <a:noFill/>
        </p:spPr>
        <p:txBody>
          <a:bodyPr wrap="square" rtlCol="0">
            <a:spAutoFit/>
          </a:bodyPr>
          <a:lstStyle/>
          <a:p>
            <a:pPr algn="r"/>
            <a:r>
              <a:rPr lang="en-US" sz="3600" dirty="0">
                <a:latin typeface="Times New Roman" panose="02020603050405020304" pitchFamily="18" charset="0"/>
                <a:cs typeface="Times New Roman" panose="02020603050405020304" pitchFamily="18" charset="0"/>
              </a:rPr>
              <a:t>Flood Risk Prediction Using Machine Learning</a:t>
            </a:r>
            <a:endParaRPr lang="en-US" sz="3600" b="1" dirty="0">
              <a:solidFill>
                <a:schemeClr val="bg1"/>
              </a:solidFill>
              <a:latin typeface="Times New Roman" panose="02020603050405020304" pitchFamily="18" charset="0"/>
              <a:cs typeface="Times New Roman" panose="02020603050405020304" pitchFamily="18" charset="0"/>
            </a:endParaRPr>
          </a:p>
        </p:txBody>
      </p:sp>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67419" y="868863"/>
            <a:ext cx="1263157" cy="410834"/>
          </a:xfrm>
          <a:prstGeom prst="rect">
            <a:avLst/>
          </a:prstGeom>
        </p:spPr>
      </p:pic>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6247390" cy="4770537"/>
          </a:xfrm>
          <a:prstGeom prst="rect">
            <a:avLst/>
          </a:prstGeom>
          <a:noFill/>
        </p:spPr>
        <p:txBody>
          <a:bodyPr wrap="square">
            <a:spAutoFit/>
          </a:bodyPr>
          <a:lstStyle/>
          <a:p>
            <a:r>
              <a:rPr lang="en-US" sz="2000" b="1" dirty="0"/>
              <a:t> </a:t>
            </a:r>
            <a:r>
              <a:rPr lang="en-IN" sz="2000" b="1" dirty="0">
                <a:solidFill>
                  <a:srgbClr val="213163"/>
                </a:solidFill>
              </a:rPr>
              <a:t>Learning Objectives</a:t>
            </a:r>
            <a:endParaRPr lang="en-IN" sz="2000" dirty="0">
              <a:solidFill>
                <a:srgbClr val="213163"/>
              </a:solidFill>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sym typeface="Wingdings" panose="05000000000000000000" pitchFamily="2" charset="2"/>
              </a:rPr>
              <a:t></a:t>
            </a:r>
            <a:r>
              <a:rPr lang="en-US" sz="2400" dirty="0">
                <a:latin typeface="Times New Roman" panose="02020603050405020304" pitchFamily="18" charset="0"/>
                <a:cs typeface="Times New Roman" panose="02020603050405020304" pitchFamily="18" charset="0"/>
              </a:rPr>
              <a:t>Understand flood impact on society and infrastructure</a:t>
            </a:r>
          </a:p>
          <a:p>
            <a:r>
              <a:rPr lang="en-US" sz="2400" dirty="0">
                <a:latin typeface="Times New Roman" panose="02020603050405020304" pitchFamily="18" charset="0"/>
                <a:cs typeface="Times New Roman" panose="02020603050405020304" pitchFamily="18" charset="0"/>
                <a:sym typeface="Wingdings" panose="05000000000000000000" pitchFamily="2" charset="2"/>
              </a:rPr>
              <a:t></a:t>
            </a:r>
            <a:r>
              <a:rPr lang="en-US" sz="2400" dirty="0">
                <a:latin typeface="Times New Roman" panose="02020603050405020304" pitchFamily="18" charset="0"/>
                <a:cs typeface="Times New Roman" panose="02020603050405020304" pitchFamily="18" charset="0"/>
              </a:rPr>
              <a:t>Learn data preprocessing techniques for flood datasets</a:t>
            </a:r>
          </a:p>
          <a:p>
            <a:r>
              <a:rPr lang="en-US" sz="2400" dirty="0">
                <a:latin typeface="Times New Roman" panose="02020603050405020304" pitchFamily="18" charset="0"/>
                <a:cs typeface="Times New Roman" panose="02020603050405020304" pitchFamily="18" charset="0"/>
                <a:sym typeface="Wingdings" panose="05000000000000000000" pitchFamily="2" charset="2"/>
              </a:rPr>
              <a:t></a:t>
            </a:r>
            <a:r>
              <a:rPr lang="en-US" sz="2400" dirty="0">
                <a:latin typeface="Times New Roman" panose="02020603050405020304" pitchFamily="18" charset="0"/>
                <a:cs typeface="Times New Roman" panose="02020603050405020304" pitchFamily="18" charset="0"/>
              </a:rPr>
              <a:t>Apply machine learning algorithms for flood risk prediction</a:t>
            </a:r>
          </a:p>
          <a:p>
            <a:r>
              <a:rPr lang="en-US" sz="2400" dirty="0">
                <a:latin typeface="Times New Roman" panose="02020603050405020304" pitchFamily="18" charset="0"/>
                <a:cs typeface="Times New Roman" panose="02020603050405020304" pitchFamily="18" charset="0"/>
                <a:sym typeface="Wingdings" panose="05000000000000000000" pitchFamily="2" charset="2"/>
              </a:rPr>
              <a:t></a:t>
            </a:r>
            <a:r>
              <a:rPr lang="en-US" sz="2400" dirty="0">
                <a:latin typeface="Times New Roman" panose="02020603050405020304" pitchFamily="18" charset="0"/>
                <a:cs typeface="Times New Roman" panose="02020603050405020304" pitchFamily="18" charset="0"/>
              </a:rPr>
              <a:t>Evaluate model performance using appropriate metrics</a:t>
            </a:r>
          </a:p>
          <a:p>
            <a:r>
              <a:rPr lang="en-US" sz="2400" dirty="0">
                <a:latin typeface="Times New Roman" panose="02020603050405020304" pitchFamily="18" charset="0"/>
                <a:cs typeface="Times New Roman" panose="02020603050405020304" pitchFamily="18" charset="0"/>
                <a:sym typeface="Wingdings" panose="05000000000000000000" pitchFamily="2" charset="2"/>
              </a:rPr>
              <a:t></a:t>
            </a:r>
            <a:r>
              <a:rPr lang="en-US" sz="2400" dirty="0">
                <a:latin typeface="Times New Roman" panose="02020603050405020304" pitchFamily="18" charset="0"/>
                <a:cs typeface="Times New Roman" panose="02020603050405020304" pitchFamily="18" charset="0"/>
              </a:rPr>
              <a:t>Explore real-world applications for disaster management and early warning systems</a:t>
            </a:r>
          </a:p>
          <a:p>
            <a:endParaRPr lang="en-IN" sz="2000" b="1"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55085" y="1048414"/>
            <a:ext cx="8642406" cy="5447645"/>
          </a:xfrm>
          <a:prstGeom prst="rect">
            <a:avLst/>
          </a:prstGeom>
          <a:noFill/>
        </p:spPr>
        <p:txBody>
          <a:bodyPr wrap="square">
            <a:spAutoFit/>
          </a:bodyPr>
          <a:lstStyle/>
          <a:p>
            <a:r>
              <a:rPr lang="en-US" sz="2000" b="1" dirty="0">
                <a:solidFill>
                  <a:srgbClr val="213163"/>
                </a:solidFill>
              </a:rPr>
              <a:t>T</a:t>
            </a:r>
            <a:r>
              <a:rPr lang="en-IN" sz="2000" b="1" dirty="0" err="1">
                <a:solidFill>
                  <a:srgbClr val="213163"/>
                </a:solidFill>
              </a:rPr>
              <a:t>ools</a:t>
            </a:r>
            <a:r>
              <a:rPr lang="en-IN" sz="2000" b="1" dirty="0">
                <a:solidFill>
                  <a:srgbClr val="213163"/>
                </a:solidFill>
              </a:rPr>
              <a:t> and Technology used :</a:t>
            </a:r>
          </a:p>
          <a:p>
            <a:r>
              <a:rPr lang="en-IN" sz="2000" b="1" dirty="0">
                <a:solidFill>
                  <a:srgbClr val="213163"/>
                </a:solidFill>
              </a:rPr>
              <a:t> </a:t>
            </a:r>
            <a:r>
              <a:rPr lang="en-IN" sz="2000" b="1" dirty="0"/>
              <a:t>1.</a:t>
            </a:r>
            <a:r>
              <a:rPr lang="en-IN" sz="1800" b="1" dirty="0">
                <a:latin typeface="Times New Roman" panose="02020603050405020304" pitchFamily="18" charset="0"/>
                <a:cs typeface="Times New Roman" panose="02020603050405020304" pitchFamily="18" charset="0"/>
              </a:rPr>
              <a:t>Programming Language</a:t>
            </a:r>
            <a:endParaRPr lang="en-IN" sz="1800" dirty="0">
              <a:latin typeface="Times New Roman" panose="02020603050405020304" pitchFamily="18" charset="0"/>
              <a:cs typeface="Times New Roman" panose="02020603050405020304" pitchFamily="18" charset="0"/>
            </a:endParaRPr>
          </a:p>
          <a:p>
            <a:pPr algn="just"/>
            <a:r>
              <a:rPr lang="en-IN" sz="1800" b="1" dirty="0">
                <a:latin typeface="Times New Roman" panose="02020603050405020304" pitchFamily="18" charset="0"/>
                <a:cs typeface="Times New Roman" panose="02020603050405020304" pitchFamily="18" charset="0"/>
              </a:rPr>
              <a:t>     Python:</a:t>
            </a:r>
            <a:r>
              <a:rPr lang="en-IN" sz="1800" dirty="0">
                <a:latin typeface="Times New Roman" panose="02020603050405020304" pitchFamily="18" charset="0"/>
                <a:cs typeface="Times New Roman" panose="02020603050405020304" pitchFamily="18" charset="0"/>
              </a:rPr>
              <a:t> Selected for its simplicity, strong community support, and vast</a:t>
            </a:r>
          </a:p>
          <a:p>
            <a:pPr algn="just"/>
            <a:r>
              <a:rPr lang="en-IN" sz="1800" dirty="0">
                <a:latin typeface="Times New Roman" panose="02020603050405020304" pitchFamily="18" charset="0"/>
                <a:cs typeface="Times New Roman" panose="02020603050405020304" pitchFamily="18" charset="0"/>
              </a:rPr>
              <a:t>     machine learning libraries.          </a:t>
            </a:r>
          </a:p>
          <a:p>
            <a:r>
              <a:rPr lang="en-IN" sz="1800" b="1" dirty="0">
                <a:latin typeface="Times New Roman" panose="02020603050405020304" pitchFamily="18" charset="0"/>
                <a:cs typeface="Times New Roman" panose="02020603050405020304" pitchFamily="18" charset="0"/>
              </a:rPr>
              <a:t>2. Data Analysis &amp; Preprocessing</a:t>
            </a:r>
            <a:endParaRPr lang="en-IN" sz="1800" dirty="0">
              <a:latin typeface="Times New Roman" panose="02020603050405020304" pitchFamily="18" charset="0"/>
              <a:cs typeface="Times New Roman" panose="02020603050405020304" pitchFamily="18" charset="0"/>
            </a:endParaRPr>
          </a:p>
          <a:p>
            <a:pPr lvl="8" algn="just"/>
            <a:r>
              <a:rPr lang="en-IN" sz="1800" b="1" dirty="0">
                <a:latin typeface="Times New Roman" panose="02020603050405020304" pitchFamily="18" charset="0"/>
                <a:cs typeface="Times New Roman" panose="02020603050405020304" pitchFamily="18" charset="0"/>
              </a:rPr>
              <a:t>     Pandas:</a:t>
            </a:r>
            <a:r>
              <a:rPr lang="en-IN" sz="1800" dirty="0">
                <a:latin typeface="Times New Roman" panose="02020603050405020304" pitchFamily="18" charset="0"/>
                <a:cs typeface="Times New Roman" panose="02020603050405020304" pitchFamily="18" charset="0"/>
              </a:rPr>
              <a:t> For data cleaning, handling missing values, and manipulation.</a:t>
            </a:r>
          </a:p>
          <a:p>
            <a:pPr lvl="8" algn="just"/>
            <a:r>
              <a:rPr lang="en-IN" sz="1800" b="1" dirty="0">
                <a:latin typeface="Times New Roman" panose="02020603050405020304" pitchFamily="18" charset="0"/>
                <a:cs typeface="Times New Roman" panose="02020603050405020304" pitchFamily="18" charset="0"/>
              </a:rPr>
              <a:t>     NumPy:</a:t>
            </a:r>
            <a:r>
              <a:rPr lang="en-IN" sz="1800" dirty="0">
                <a:latin typeface="Times New Roman" panose="02020603050405020304" pitchFamily="18" charset="0"/>
                <a:cs typeface="Times New Roman" panose="02020603050405020304" pitchFamily="18" charset="0"/>
              </a:rPr>
              <a:t> For numerical computations and array handling.</a:t>
            </a:r>
          </a:p>
          <a:p>
            <a:r>
              <a:rPr lang="en-IN" sz="1800" b="1" dirty="0">
                <a:latin typeface="Times New Roman" panose="02020603050405020304" pitchFamily="18" charset="0"/>
                <a:cs typeface="Times New Roman" panose="02020603050405020304" pitchFamily="18" charset="0"/>
              </a:rPr>
              <a:t>3. Machine Learning Framework</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     Scikit-learn:</a:t>
            </a:r>
            <a:r>
              <a:rPr lang="en-IN" sz="1800" dirty="0">
                <a:latin typeface="Times New Roman" panose="02020603050405020304" pitchFamily="18" charset="0"/>
                <a:cs typeface="Times New Roman" panose="02020603050405020304" pitchFamily="18" charset="0"/>
              </a:rPr>
              <a:t> Used for building and training classification models like </a:t>
            </a:r>
          </a:p>
          <a:p>
            <a:r>
              <a:rPr lang="en-IN" sz="1800" dirty="0">
                <a:latin typeface="Times New Roman" panose="02020603050405020304" pitchFamily="18" charset="0"/>
                <a:cs typeface="Times New Roman" panose="02020603050405020304" pitchFamily="18" charset="0"/>
              </a:rPr>
              <a:t>     Random Forest, or Logistic Regression.          </a:t>
            </a:r>
          </a:p>
          <a:p>
            <a:r>
              <a:rPr lang="en-IN" sz="1800" b="1" dirty="0">
                <a:latin typeface="Times New Roman" panose="02020603050405020304" pitchFamily="18" charset="0"/>
                <a:cs typeface="Times New Roman" panose="02020603050405020304" pitchFamily="18" charset="0"/>
              </a:rPr>
              <a:t>4. Data Visualization</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      Matplotlib &amp; Seaborn:</a:t>
            </a:r>
            <a:r>
              <a:rPr lang="en-IN" sz="1800" dirty="0">
                <a:latin typeface="Times New Roman" panose="02020603050405020304" pitchFamily="18" charset="0"/>
                <a:cs typeface="Times New Roman" panose="02020603050405020304" pitchFamily="18" charset="0"/>
              </a:rPr>
              <a:t> For creating insightful plots, graphs, and  to  </a:t>
            </a:r>
          </a:p>
          <a:p>
            <a:r>
              <a:rPr lang="en-IN" sz="1800" dirty="0">
                <a:latin typeface="Times New Roman" panose="02020603050405020304" pitchFamily="18" charset="0"/>
                <a:cs typeface="Times New Roman" panose="02020603050405020304" pitchFamily="18" charset="0"/>
              </a:rPr>
              <a:t>      heatmaps understand trends and model performance.</a:t>
            </a:r>
          </a:p>
          <a:p>
            <a:r>
              <a:rPr lang="en-IN" sz="1800" b="1" dirty="0">
                <a:latin typeface="Times New Roman" panose="02020603050405020304" pitchFamily="18" charset="0"/>
                <a:cs typeface="Times New Roman" panose="02020603050405020304" pitchFamily="18" charset="0"/>
              </a:rPr>
              <a:t>5. Development Environment</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     </a:t>
            </a:r>
            <a:r>
              <a:rPr lang="en-IN" sz="1800" b="1" dirty="0" err="1">
                <a:latin typeface="Times New Roman" panose="02020603050405020304" pitchFamily="18" charset="0"/>
                <a:cs typeface="Times New Roman" panose="02020603050405020304" pitchFamily="18" charset="0"/>
              </a:rPr>
              <a:t>Jupyter</a:t>
            </a:r>
            <a:r>
              <a:rPr lang="en-IN" sz="1800" b="1" dirty="0">
                <a:latin typeface="Times New Roman" panose="02020603050405020304" pitchFamily="18" charset="0"/>
                <a:cs typeface="Times New Roman" panose="02020603050405020304" pitchFamily="18" charset="0"/>
              </a:rPr>
              <a:t> Notebook:</a:t>
            </a:r>
            <a:r>
              <a:rPr lang="en-IN" sz="1800" dirty="0">
                <a:latin typeface="Times New Roman" panose="02020603050405020304" pitchFamily="18" charset="0"/>
                <a:cs typeface="Times New Roman" panose="02020603050405020304" pitchFamily="18" charset="0"/>
              </a:rPr>
              <a:t> For interactive coding, visualizations, and   </a:t>
            </a:r>
          </a:p>
          <a:p>
            <a:r>
              <a:rPr lang="en-IN" sz="1800" dirty="0">
                <a:latin typeface="Times New Roman" panose="02020603050405020304" pitchFamily="18" charset="0"/>
                <a:cs typeface="Times New Roman" panose="02020603050405020304" pitchFamily="18" charset="0"/>
              </a:rPr>
              <a:t>     documentation in one place.</a:t>
            </a:r>
          </a:p>
          <a:p>
            <a:r>
              <a:rPr lang="en-IN" sz="1800" b="1" dirty="0">
                <a:latin typeface="Times New Roman" panose="02020603050405020304" pitchFamily="18" charset="0"/>
                <a:cs typeface="Times New Roman" panose="02020603050405020304" pitchFamily="18" charset="0"/>
              </a:rPr>
              <a:t>6. Data Sources</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     CSV/Excel datasets containing historical flood and weather data.</a:t>
            </a:r>
          </a:p>
          <a:p>
            <a:endParaRPr lang="en-IN" sz="2000" b="1" dirty="0">
              <a:solidFill>
                <a:srgbClr val="213163"/>
              </a:solidFill>
            </a:endParaRP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5" y="966531"/>
            <a:ext cx="11262709" cy="9274398"/>
          </a:xfrm>
          <a:prstGeom prst="rect">
            <a:avLst/>
          </a:prstGeom>
          <a:noFill/>
        </p:spPr>
        <p:txBody>
          <a:bodyPr wrap="square">
            <a:spAutoFit/>
          </a:bodyPr>
          <a:lstStyle/>
          <a:p>
            <a:r>
              <a:rPr lang="en-US" sz="2000" b="1" dirty="0">
                <a:solidFill>
                  <a:srgbClr val="213163"/>
                </a:solidFill>
              </a:rPr>
              <a:t>Methodology </a:t>
            </a:r>
            <a:endParaRPr lang="en-IN" sz="2000" dirty="0">
              <a:solidFill>
                <a:srgbClr val="213163"/>
              </a:solidFill>
            </a:endParaRPr>
          </a:p>
          <a:p>
            <a:endParaRPr lang="en-US" b="1" dirty="0"/>
          </a:p>
          <a:p>
            <a:r>
              <a:rPr lang="en-US" sz="1800" b="1" dirty="0">
                <a:latin typeface="Times New Roman" panose="02020603050405020304" pitchFamily="18" charset="0"/>
                <a:cs typeface="Times New Roman" panose="02020603050405020304" pitchFamily="18" charset="0"/>
              </a:rPr>
              <a:t>Data Collection</a:t>
            </a:r>
            <a:endParaRPr lang="en-US" sz="1800" dirty="0">
              <a:latin typeface="Times New Roman" panose="02020603050405020304" pitchFamily="18" charset="0"/>
              <a:cs typeface="Times New Roman" panose="02020603050405020304" pitchFamily="18" charset="0"/>
            </a:endParaRPr>
          </a:p>
          <a:p>
            <a:pPr lvl="7" algn="just"/>
            <a:r>
              <a:rPr lang="en-US" sz="1800" dirty="0">
                <a:latin typeface="Times New Roman" panose="02020603050405020304" pitchFamily="18" charset="0"/>
                <a:cs typeface="Times New Roman" panose="02020603050405020304" pitchFamily="18" charset="0"/>
              </a:rPr>
              <a:t> Collect historical flood and weather data from reliable sources like government datasets and meteorological</a:t>
            </a:r>
          </a:p>
          <a:p>
            <a:pPr lvl="7" algn="just"/>
            <a:r>
              <a:rPr lang="en-US" sz="1800" dirty="0">
                <a:latin typeface="Times New Roman" panose="02020603050405020304" pitchFamily="18" charset="0"/>
                <a:cs typeface="Times New Roman" panose="02020603050405020304" pitchFamily="18" charset="0"/>
              </a:rPr>
              <a:t> departments.          </a:t>
            </a:r>
          </a:p>
          <a:p>
            <a:r>
              <a:rPr lang="en-US" sz="1800" b="1" dirty="0">
                <a:latin typeface="Times New Roman" panose="02020603050405020304" pitchFamily="18" charset="0"/>
                <a:cs typeface="Times New Roman" panose="02020603050405020304" pitchFamily="18" charset="0"/>
              </a:rPr>
              <a:t>Data Preprocessing</a:t>
            </a:r>
            <a:endParaRPr lang="en-US" sz="18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  Handle missing values, remove duplicates, normalize data, and prepare it for analysis.</a:t>
            </a:r>
          </a:p>
          <a:p>
            <a:r>
              <a:rPr lang="en-US" sz="1800" b="1" dirty="0">
                <a:latin typeface="Times New Roman" panose="02020603050405020304" pitchFamily="18" charset="0"/>
                <a:cs typeface="Times New Roman" panose="02020603050405020304" pitchFamily="18" charset="0"/>
              </a:rPr>
              <a:t>Feature Engineering</a:t>
            </a:r>
            <a:endParaRPr lang="en-US" sz="18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  Identify and select key factors such as rainfall, river water levels, and temperature that influence flood risk.</a:t>
            </a:r>
          </a:p>
          <a:p>
            <a:r>
              <a:rPr lang="en-US" sz="1800" b="1" dirty="0">
                <a:latin typeface="Times New Roman" panose="02020603050405020304" pitchFamily="18" charset="0"/>
                <a:cs typeface="Times New Roman" panose="02020603050405020304" pitchFamily="18" charset="0"/>
              </a:rPr>
              <a:t>Model Building</a:t>
            </a:r>
            <a:endParaRPr lang="en-US" sz="18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  Train machine learning algorithms like Decision Trees and Random Forest to classify flood risk levels.</a:t>
            </a:r>
          </a:p>
          <a:p>
            <a:r>
              <a:rPr lang="en-US" sz="1800" b="1" dirty="0">
                <a:latin typeface="Times New Roman" panose="02020603050405020304" pitchFamily="18" charset="0"/>
                <a:cs typeface="Times New Roman" panose="02020603050405020304" pitchFamily="18" charset="0"/>
              </a:rPr>
              <a:t>Model Evaluation</a:t>
            </a:r>
            <a:endParaRPr lang="en-US" sz="18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  Use performance metrics such as Accuracy, Precision, Recall, and F1-score to evaluate the model.</a:t>
            </a:r>
          </a:p>
          <a:p>
            <a:r>
              <a:rPr lang="en-US" sz="1800" b="1" dirty="0">
                <a:latin typeface="Times New Roman" panose="02020603050405020304" pitchFamily="18" charset="0"/>
                <a:cs typeface="Times New Roman" panose="02020603050405020304" pitchFamily="18" charset="0"/>
              </a:rPr>
              <a:t>Risk Prediction</a:t>
            </a:r>
            <a:endParaRPr lang="en-US" sz="18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  Deploy the model to predict flood risk levels (Low, Medium, High) for new or real-time data.</a:t>
            </a:r>
          </a:p>
          <a:p>
            <a:r>
              <a:rPr lang="en-US" sz="1800" b="1" dirty="0">
                <a:latin typeface="Times New Roman" panose="02020603050405020304" pitchFamily="18" charset="0"/>
                <a:cs typeface="Times New Roman" panose="02020603050405020304" pitchFamily="18" charset="0"/>
              </a:rPr>
              <a:t>Visualization &amp; Reporting</a:t>
            </a:r>
            <a:endParaRPr lang="en-US" sz="18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  Present results using charts, graphs, and dashboards for easy interpretation by decision-makers.</a:t>
            </a:r>
          </a:p>
          <a:p>
            <a:endParaRPr lang="en-US" sz="1800" b="1" dirty="0">
              <a:solidFill>
                <a:srgbClr val="213163"/>
              </a:solidFill>
              <a:latin typeface="Times New Roman" panose="02020603050405020304" pitchFamily="18" charset="0"/>
              <a:cs typeface="Times New Roman" panose="02020603050405020304" pitchFamily="18" charset="0"/>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3" y="1054412"/>
            <a:ext cx="10544441" cy="8525411"/>
          </a:xfrm>
          <a:prstGeom prst="rect">
            <a:avLst/>
          </a:prstGeom>
          <a:noFill/>
        </p:spPr>
        <p:txBody>
          <a:bodyPr wrap="square">
            <a:spAutoFit/>
          </a:bodyPr>
          <a:lstStyle/>
          <a:p>
            <a:r>
              <a:rPr lang="en-US" sz="2000" b="1" dirty="0">
                <a:solidFill>
                  <a:srgbClr val="213163"/>
                </a:solidFill>
              </a:rPr>
              <a:t>Problem Statement:  </a:t>
            </a:r>
          </a:p>
          <a:p>
            <a:endParaRPr lang="en-US" sz="2000" b="1" dirty="0">
              <a:solidFill>
                <a:srgbClr val="213163"/>
              </a:solidFill>
            </a:endParaRPr>
          </a:p>
          <a:p>
            <a:r>
              <a:rPr lang="en-US" sz="1800" dirty="0">
                <a:latin typeface="Times New Roman" panose="02020603050405020304" pitchFamily="18" charset="0"/>
                <a:cs typeface="Times New Roman" panose="02020603050405020304" pitchFamily="18" charset="0"/>
              </a:rPr>
              <a:t>Floods are among the most frequent and destructive natural disasters, resulting in loss of human lives, damage to property, destruction of crops, and disruption of essential services. The unpredictability and suddenness of floods make disaster management highly challenging.</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Traditional flood prediction methods often rely on manual observations or simple statistical models that fail to handle the complex relationships between various factors like rainfall, river water levels, soil moisture, and temperature. This leads to delayed warnings and inaccurate forecasts, reducing the effectiveness of emergency response plans.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Therefore, there is a pressing need for an intelligent, data-driven solution that can leverage historical flood and weather data to provide early, accurate, and location-specific flood risk predictions. Such a system would enable authorities and communities to prepare in advance, minimize losses, and improve disaster management efforts.</a:t>
            </a:r>
          </a:p>
          <a:p>
            <a:endParaRPr lang="en-US" sz="1800" dirty="0">
              <a:solidFill>
                <a:srgbClr val="213163"/>
              </a:solidFill>
              <a:latin typeface="Arial" panose="020B0604020202020204" pitchFamily="34" charset="0"/>
              <a:cs typeface="Arial" panose="020B0604020202020204" pitchFamily="34" charset="0"/>
            </a:endParaRPr>
          </a:p>
          <a:p>
            <a:endParaRPr lang="en-US" sz="1800" b="1" dirty="0">
              <a:solidFill>
                <a:srgbClr val="213163"/>
              </a:solidFill>
            </a:endParaRPr>
          </a:p>
          <a:p>
            <a:endParaRPr lang="en-US" sz="18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IN" sz="2000" b="1" dirty="0">
              <a:solidFill>
                <a:srgbClr val="213163"/>
              </a:solidFill>
            </a:endParaRP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3" y="1054412"/>
            <a:ext cx="11824601" cy="8402300"/>
          </a:xfrm>
          <a:prstGeom prst="rect">
            <a:avLst/>
          </a:prstGeom>
          <a:noFill/>
        </p:spPr>
        <p:txBody>
          <a:bodyPr wrap="square">
            <a:spAutoFit/>
          </a:bodyPr>
          <a:lstStyle/>
          <a:p>
            <a:r>
              <a:rPr lang="en-US" sz="2000" b="1" dirty="0">
                <a:solidFill>
                  <a:srgbClr val="213163"/>
                </a:solidFill>
              </a:rPr>
              <a:t>Solution:  </a:t>
            </a:r>
          </a:p>
          <a:p>
            <a:r>
              <a:rPr lang="en-US" sz="2000" dirty="0">
                <a:latin typeface="Times New Roman" panose="02020603050405020304" pitchFamily="18" charset="0"/>
                <a:cs typeface="Times New Roman" panose="02020603050405020304" pitchFamily="18" charset="0"/>
              </a:rPr>
              <a:t>To address the challenges in accurate and timely flood prediction, this project proposes a machine learning-based </a:t>
            </a:r>
            <a:r>
              <a:rPr lang="en-US" sz="2000" i="1" dirty="0">
                <a:latin typeface="Times New Roman" panose="02020603050405020304" pitchFamily="18" charset="0"/>
                <a:cs typeface="Times New Roman" panose="02020603050405020304" pitchFamily="18" charset="0"/>
              </a:rPr>
              <a:t>solution</a:t>
            </a:r>
            <a:r>
              <a:rPr lang="en-US" sz="2000" dirty="0">
                <a:latin typeface="Times New Roman" panose="02020603050405020304" pitchFamily="18" charset="0"/>
                <a:cs typeface="Times New Roman" panose="02020603050405020304" pitchFamily="18" charset="0"/>
              </a:rPr>
              <a:t> that uses historical weather and flood data to predict flood risk levels.</a:t>
            </a:r>
          </a:p>
          <a:p>
            <a:r>
              <a:rPr lang="en-US" sz="1800" b="1" dirty="0">
                <a:latin typeface="Times New Roman" panose="02020603050405020304" pitchFamily="18" charset="0"/>
                <a:cs typeface="Times New Roman" panose="02020603050405020304" pitchFamily="18" charset="0"/>
              </a:rPr>
              <a:t>Key Features of the Solution</a:t>
            </a:r>
            <a:r>
              <a:rPr lang="en-US" sz="2000" dirty="0">
                <a:latin typeface="Times New Roman" panose="02020603050405020304" pitchFamily="18" charset="0"/>
                <a:cs typeface="Times New Roman" panose="02020603050405020304" pitchFamily="18" charset="0"/>
              </a:rPr>
              <a:t>:</a:t>
            </a:r>
          </a:p>
          <a:p>
            <a:r>
              <a:rPr lang="en-US" sz="1800" b="1" dirty="0">
                <a:latin typeface="Times New Roman" panose="02020603050405020304" pitchFamily="18" charset="0"/>
                <a:cs typeface="Times New Roman" panose="02020603050405020304" pitchFamily="18" charset="0"/>
              </a:rPr>
              <a:t>Data-Driven Approach</a:t>
            </a:r>
            <a:r>
              <a:rPr lang="en-US" sz="2000" dirty="0">
                <a:latin typeface="Times New Roman" panose="02020603050405020304" pitchFamily="18" charset="0"/>
                <a:cs typeface="Times New Roman" panose="02020603050405020304" pitchFamily="18" charset="0"/>
              </a:rPr>
              <a:t>: Leverages historical data such as rainfall, water levels, and temperature to understand patterns.</a:t>
            </a:r>
          </a:p>
          <a:p>
            <a:r>
              <a:rPr lang="en-US" sz="1800" b="1" dirty="0">
                <a:latin typeface="Times New Roman" panose="02020603050405020304" pitchFamily="18" charset="0"/>
                <a:cs typeface="Times New Roman" panose="02020603050405020304" pitchFamily="18" charset="0"/>
              </a:rPr>
              <a:t>Preprocessing Pipeline</a:t>
            </a:r>
            <a:r>
              <a:rPr lang="en-US" sz="2000" dirty="0">
                <a:latin typeface="Times New Roman" panose="02020603050405020304" pitchFamily="18" charset="0"/>
                <a:cs typeface="Times New Roman" panose="02020603050405020304" pitchFamily="18" charset="0"/>
              </a:rPr>
              <a:t>: Cleans and prepares data for better model accuracy.</a:t>
            </a:r>
          </a:p>
          <a:p>
            <a:r>
              <a:rPr lang="en-US" sz="1800" b="1" dirty="0">
                <a:latin typeface="Times New Roman" panose="02020603050405020304" pitchFamily="18" charset="0"/>
                <a:cs typeface="Times New Roman" panose="02020603050405020304" pitchFamily="18" charset="0"/>
              </a:rPr>
              <a:t>Machine Learning Models</a:t>
            </a:r>
            <a:r>
              <a:rPr lang="en-US" sz="2000" dirty="0">
                <a:latin typeface="Times New Roman" panose="02020603050405020304" pitchFamily="18" charset="0"/>
                <a:cs typeface="Times New Roman" panose="02020603050405020304" pitchFamily="18" charset="0"/>
              </a:rPr>
              <a:t>: Uses algorithms like Decision Trees, Random Forest, or Logistic Regression for prediction.</a:t>
            </a:r>
          </a:p>
          <a:p>
            <a:r>
              <a:rPr lang="en-US" sz="1800" b="1" dirty="0">
                <a:latin typeface="Times New Roman" panose="02020603050405020304" pitchFamily="18" charset="0"/>
                <a:cs typeface="Times New Roman" panose="02020603050405020304" pitchFamily="18" charset="0"/>
              </a:rPr>
              <a:t>Risk Classification</a:t>
            </a:r>
            <a:r>
              <a:rPr lang="en-US" sz="2000" dirty="0">
                <a:latin typeface="Times New Roman" panose="02020603050405020304" pitchFamily="18" charset="0"/>
                <a:cs typeface="Times New Roman" panose="02020603050405020304" pitchFamily="18" charset="0"/>
              </a:rPr>
              <a:t>: Categorizes risk into levels (Low, Medium, High) for better decision-making.</a:t>
            </a:r>
          </a:p>
          <a:p>
            <a:r>
              <a:rPr lang="en-US" sz="1800" b="1" dirty="0">
                <a:latin typeface="Times New Roman" panose="02020603050405020304" pitchFamily="18" charset="0"/>
                <a:cs typeface="Times New Roman" panose="02020603050405020304" pitchFamily="18" charset="0"/>
              </a:rPr>
              <a:t>Visualization Tools</a:t>
            </a:r>
            <a:r>
              <a:rPr lang="en-US" sz="2000" dirty="0">
                <a:latin typeface="Times New Roman" panose="02020603050405020304" pitchFamily="18" charset="0"/>
                <a:cs typeface="Times New Roman" panose="02020603050405020304" pitchFamily="18" charset="0"/>
              </a:rPr>
              <a:t>: Provides clear graphs and charts for easy interpretation of results.</a:t>
            </a:r>
          </a:p>
          <a:p>
            <a:r>
              <a:rPr lang="en-US" sz="2000" dirty="0">
                <a:latin typeface="Times New Roman" panose="02020603050405020304" pitchFamily="18" charset="0"/>
                <a:cs typeface="Times New Roman" panose="02020603050405020304" pitchFamily="18" charset="0"/>
              </a:rPr>
              <a:t>Scalability: Can be expanded to integrate real-time IoT sensor data for live monitoring and prediction.</a:t>
            </a:r>
          </a:p>
          <a:p>
            <a:endParaRPr lang="en-US" sz="2000" dirty="0">
              <a:solidFill>
                <a:srgbClr val="213163"/>
              </a:solidFill>
              <a:latin typeface="Times New Roman" panose="02020603050405020304" pitchFamily="18" charset="0"/>
              <a:cs typeface="Times New Roman" panose="02020603050405020304" pitchFamily="18" charset="0"/>
            </a:endParaRPr>
          </a:p>
          <a:p>
            <a:endParaRPr lang="en-US" sz="2000" dirty="0">
              <a:solidFill>
                <a:srgbClr val="213163"/>
              </a:solidFill>
            </a:endParaRPr>
          </a:p>
          <a:p>
            <a:r>
              <a:rPr lang="en-US" sz="2000" b="1" dirty="0">
                <a:solidFill>
                  <a:srgbClr val="213163"/>
                </a:solidFill>
              </a:rPr>
              <a:t>GITHUB </a:t>
            </a:r>
            <a:r>
              <a:rPr lang="en-US" sz="2000" b="1" dirty="0" err="1">
                <a:solidFill>
                  <a:srgbClr val="213163"/>
                </a:solidFill>
              </a:rPr>
              <a:t>LINK:https</a:t>
            </a:r>
            <a:r>
              <a:rPr lang="en-US" sz="2000" b="1" dirty="0">
                <a:solidFill>
                  <a:srgbClr val="213163"/>
                </a:solidFill>
              </a:rPr>
              <a:t>: //github.com/</a:t>
            </a:r>
            <a:r>
              <a:rPr lang="en-US" sz="2000" b="1" dirty="0" err="1">
                <a:solidFill>
                  <a:srgbClr val="213163"/>
                </a:solidFill>
              </a:rPr>
              <a:t>RamagoniSuchitha</a:t>
            </a:r>
            <a:r>
              <a:rPr lang="en-US" sz="2000" b="1" dirty="0">
                <a:solidFill>
                  <a:srgbClr val="213163"/>
                </a:solidFill>
              </a:rPr>
              <a:t>/flood-risk-</a:t>
            </a:r>
            <a:r>
              <a:rPr lang="en-US" sz="2000" b="1" dirty="0" err="1">
                <a:solidFill>
                  <a:srgbClr val="213163"/>
                </a:solidFill>
              </a:rPr>
              <a:t>prediction.git</a:t>
            </a:r>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9832172" cy="3785652"/>
          </a:xfrm>
          <a:prstGeom prst="rect">
            <a:avLst/>
          </a:prstGeom>
          <a:noFill/>
        </p:spPr>
        <p:txBody>
          <a:bodyPr wrap="square">
            <a:spAutoFit/>
          </a:bodyPr>
          <a:lstStyle/>
          <a:p>
            <a:r>
              <a:rPr lang="en-US" sz="2000" b="1" dirty="0">
                <a:solidFill>
                  <a:srgbClr val="213163"/>
                </a:solidFill>
              </a:rPr>
              <a:t>Screenshot of Output:  </a:t>
            </a: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IN" sz="2000" b="1" dirty="0">
              <a:solidFill>
                <a:srgbClr val="213163"/>
              </a:solidFill>
            </a:endParaRPr>
          </a:p>
        </p:txBody>
      </p:sp>
      <p:pic>
        <p:nvPicPr>
          <p:cNvPr id="4" name="Picture 3">
            <a:extLst>
              <a:ext uri="{FF2B5EF4-FFF2-40B4-BE49-F238E27FC236}">
                <a16:creationId xmlns:a16="http://schemas.microsoft.com/office/drawing/2014/main" id="{FBDA4783-5C51-AC17-6488-0C86B0537C02}"/>
              </a:ext>
            </a:extLst>
          </p:cNvPr>
          <p:cNvPicPr>
            <a:picLocks noChangeAspect="1"/>
          </p:cNvPicPr>
          <p:nvPr/>
        </p:nvPicPr>
        <p:blipFill>
          <a:blip r:embed="rId2"/>
          <a:stretch>
            <a:fillRect/>
          </a:stretch>
        </p:blipFill>
        <p:spPr>
          <a:xfrm>
            <a:off x="3003082" y="2177910"/>
            <a:ext cx="5505650" cy="1731162"/>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11564858" cy="6514732"/>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p>
          <a:p>
            <a:endParaRPr lang="en-US" sz="1800" b="1" dirty="0">
              <a:solidFill>
                <a:srgbClr val="213163"/>
              </a:solidFill>
            </a:endParaRPr>
          </a:p>
          <a:p>
            <a:r>
              <a:rPr lang="en-US" sz="1800" dirty="0">
                <a:latin typeface="Times New Roman" panose="02020603050405020304" pitchFamily="18" charset="0"/>
                <a:cs typeface="Times New Roman" panose="02020603050405020304" pitchFamily="18" charset="0"/>
              </a:rPr>
              <a:t>The project successfully demonstrates how machine learning models can be used to predict flood risk levels accurately using historical data.</a:t>
            </a:r>
          </a:p>
          <a:p>
            <a:r>
              <a:rPr lang="en-US" sz="1800" dirty="0">
                <a:latin typeface="Times New Roman" panose="02020603050405020304" pitchFamily="18" charset="0"/>
                <a:cs typeface="Times New Roman" panose="02020603050405020304" pitchFamily="18" charset="0"/>
              </a:rPr>
              <a:t>Data preprocessing and feature selection significantly improved model accuracy and reliability.</a:t>
            </a:r>
          </a:p>
          <a:p>
            <a:r>
              <a:rPr lang="en-US" sz="1800" dirty="0">
                <a:latin typeface="Times New Roman" panose="02020603050405020304" pitchFamily="18" charset="0"/>
                <a:cs typeface="Times New Roman" panose="02020603050405020304" pitchFamily="18" charset="0"/>
              </a:rPr>
              <a:t>The system can assist authorities and disaster management teams in taking early preventive measures.</a:t>
            </a:r>
          </a:p>
          <a:p>
            <a:r>
              <a:rPr lang="en-US" sz="1800" dirty="0">
                <a:latin typeface="Times New Roman" panose="02020603050405020304" pitchFamily="18" charset="0"/>
                <a:cs typeface="Times New Roman" panose="02020603050405020304" pitchFamily="18" charset="0"/>
              </a:rPr>
              <a:t>Future enhancements can integrate real-time IoT sensors and cloud-based deployment for automated alerts and better scalability</a:t>
            </a:r>
            <a:endParaRPr lang="en-US" sz="1800" dirty="0">
              <a:solidFill>
                <a:srgbClr val="213163"/>
              </a:solidFill>
              <a:latin typeface="Times New Roman" panose="02020603050405020304" pitchFamily="18" charset="0"/>
              <a:cs typeface="Times New Roman" panose="02020603050405020304" pitchFamily="18" charset="0"/>
            </a:endParaRPr>
          </a:p>
          <a:p>
            <a:endParaRPr lang="en-US" sz="1800"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r>
              <a:rPr lang="en-US" sz="1800" b="1" dirty="0">
                <a:solidFill>
                  <a:srgbClr val="213163"/>
                </a:solidFill>
              </a:rPr>
              <a:t> </a:t>
            </a:r>
            <a:endParaRPr lang="en-IN" sz="1800" dirty="0">
              <a:solidFill>
                <a:srgbClr val="213163"/>
              </a:solidFill>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107</TotalTime>
  <Words>733</Words>
  <Application>Microsoft Office PowerPoint</Application>
  <PresentationFormat>Widescreen</PresentationFormat>
  <Paragraphs>132</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Times New Roman</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𝓢𝓾𝓬𝓱𝓲𝓽𝓱𝓪 ♥</cp:lastModifiedBy>
  <cp:revision>12</cp:revision>
  <dcterms:created xsi:type="dcterms:W3CDTF">2024-12-31T09:40:01Z</dcterms:created>
  <dcterms:modified xsi:type="dcterms:W3CDTF">2025-09-14T09:11:53Z</dcterms:modified>
</cp:coreProperties>
</file>